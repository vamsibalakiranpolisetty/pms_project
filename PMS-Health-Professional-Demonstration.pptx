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c151be7c04c5f" /><Relationship Type="http://schemas.openxmlformats.org/officeDocument/2006/relationships/extended-properties" Target="/docProps/app.xml" Id="Rf1204b6b429f43cd" /><Relationship Type="http://schemas.openxmlformats.org/officeDocument/2006/relationships/officeDocument" Target="/ppt/presentation.xml" Id="R82b10f0c9253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cea1985ab4cd0"/>
  </p:sldMasterIdLst>
  <p:notesMasterIdLst>
    <p:notesMasterId xmlns:r="http://schemas.openxmlformats.org/officeDocument/2006/relationships" r:id="Rce0416ecbe76403f"/>
  </p:notesMasterIdLst>
  <p:sldIdLst>
    <p:sldId xmlns:r="http://schemas.openxmlformats.org/officeDocument/2006/relationships" id="256" r:id="Rdffa5efc5bea4be0"/>
    <p:sldId xmlns:r="http://schemas.openxmlformats.org/officeDocument/2006/relationships" id="257" r:id="Rcebf025565b947ea"/>
    <p:sldId xmlns:r="http://schemas.openxmlformats.org/officeDocument/2006/relationships" id="258" r:id="R2cd264f3a4874789"/>
    <p:sldId xmlns:r="http://schemas.openxmlformats.org/officeDocument/2006/relationships" id="259" r:id="R8444b0bdace64f4f"/>
    <p:sldId xmlns:r="http://schemas.openxmlformats.org/officeDocument/2006/relationships" id="260" r:id="R081b03d947fa49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0e5a6d75740b0" /><Relationship Type="http://schemas.openxmlformats.org/officeDocument/2006/relationships/slideMaster" Target="/ppt/slideMasters/slideMaster1.xml" Id="R724cea1985ab4cd0" /><Relationship Type="http://schemas.openxmlformats.org/officeDocument/2006/relationships/notesMaster" Target="/ppt/notesMasters/notesMaster1.xml" Id="Rce0416ecbe76403f" /><Relationship Type="http://schemas.openxmlformats.org/officeDocument/2006/relationships/presProps" Target="/ppt/presProps.xml" Id="R34ae11a7f265408f" /><Relationship Type="http://schemas.openxmlformats.org/officeDocument/2006/relationships/viewProps" Target="/ppt/viewProps.xml" Id="Rbea694a5bcf84004" /><Relationship Type="http://schemas.openxmlformats.org/officeDocument/2006/relationships/tableStyles" Target="/ppt/tableStyles.xml" Id="R0659e75aaa6c40d4" /><Relationship Type="http://schemas.openxmlformats.org/officeDocument/2006/relationships/slide" Target="/ppt/slides/slide1.xml" Id="Rdffa5efc5bea4be0" /><Relationship Type="http://schemas.openxmlformats.org/officeDocument/2006/relationships/slide" Target="/ppt/slides/slide2.xml" Id="Rcebf025565b947ea" /><Relationship Type="http://schemas.openxmlformats.org/officeDocument/2006/relationships/slide" Target="/ppt/slides/slide3.xml" Id="R2cd264f3a4874789" /><Relationship Type="http://schemas.openxmlformats.org/officeDocument/2006/relationships/slide" Target="/ppt/slides/slide4.xml" Id="R8444b0bdace64f4f" /><Relationship Type="http://schemas.openxmlformats.org/officeDocument/2006/relationships/slide" Target="/ppt/slides/slide5.xml" Id="R081b03d947fa49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f7b8891e149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18c2fc3e6540bb" /><Relationship Type="http://schemas.openxmlformats.org/officeDocument/2006/relationships/notesMaster" Target="/ppt/notesMasters/notesMaster1.xml" Id="R890ad1e11a5342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039a92f63413f" /><Relationship Type="http://schemas.openxmlformats.org/officeDocument/2006/relationships/notesMaster" Target="/ppt/notesMasters/notesMaster1.xml" Id="R10dbf731489b44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27f9bea16e41af" /><Relationship Type="http://schemas.openxmlformats.org/officeDocument/2006/relationships/notesMaster" Target="/ppt/notesMasters/notesMaster1.xml" Id="R263e95d40e6949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654d0595e94baf" /><Relationship Type="http://schemas.openxmlformats.org/officeDocument/2006/relationships/notesMaster" Target="/ppt/notesMasters/notesMaster1.xml" Id="Re717ea1faa1b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17274c75946d5" /><Relationship Type="http://schemas.openxmlformats.org/officeDocument/2006/relationships/notesMaster" Target="/ppt/notesMasters/notesMaster1.xml" Id="R4c5d4472d0eb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9db73c319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f31478c154ae3" /><Relationship Type="http://schemas.openxmlformats.org/officeDocument/2006/relationships/slideLayout" Target="/ppt/slideLayouts/slideLayout1.xml" Id="Rdd9680350feb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9680350feb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3c52820fd4872" /><Relationship Type="http://schemas.openxmlformats.org/officeDocument/2006/relationships/notesSlide" Target="/ppt/notesSlides/notesSlide1.xml" Id="Rf5718053d37742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1335a34cd4233" /><Relationship Type="http://schemas.openxmlformats.org/officeDocument/2006/relationships/notesSlide" Target="/ppt/notesSlides/notesSlide2.xml" Id="Rce3b61a6ef4d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6195520064692" /><Relationship Type="http://schemas.openxmlformats.org/officeDocument/2006/relationships/notesSlide" Target="/ppt/notesSlides/notesSlide3.xml" Id="R01763b67a6f4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c0df6021b4c9a" /><Relationship Type="http://schemas.openxmlformats.org/officeDocument/2006/relationships/notesSlide" Target="/ppt/notesSlides/notesSlide4.xml" Id="Rdb23f007073a4b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f514222e54c67" /><Relationship Type="http://schemas.openxmlformats.org/officeDocument/2006/relationships/notesSlide" Target="/ppt/notesSlides/notesSlide5.xml" Id="R3bb1d613321345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48EE7-09EE-4D6D-A5B6-30F801A9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BA5EF-40D7-4EAA-8950-3ACC379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3C144-DD50-4A3C-A75A-8C3FC3C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PMS Health | Care preparation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AC94F-C793-4995-98D6-D9FB552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806D-B612-4F1C-8DD9-82E536D4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PROFESSIONAL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C0660-3405-41BB-8C58-C0184D6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6858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PMS Health: Patient Health Assessment and Care-Preparation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7523D-FA3E-4342-A2AA-DBFCC241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A role-based healthcare awareness MVP that helps patients organize symptoms, health history, follow-up answers, and doctor-preparation notes before a consultation.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A50F4-9A8B-4708-B8C9-CBD71715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293F6-E29B-41A6-B73B-1F2943EE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Presenter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E7BA0-3FC7-470D-ADD5-BB87B9EC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29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Vamsi Polisetty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E68D6-396F-4F46-837D-300B214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666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C8F5A-B73C-4EF2-AB93-1F02EC8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323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80508-7DE4-40C5-BEAE-0C77523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23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Safety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DB6F5-2843-43E1-A8A3-2756331A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1666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C08E9-0BDA-4D49-B054-8010720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29100"/>
            <a:ext cx="1323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Mock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3AB2B-3C6B-409F-855E-8897908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1323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Demo wording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B9D97-E765-469A-AD20-0D1821E9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019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62116-52E0-408C-99D6-60D9578E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Full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C17CC-F1D1-43AE-9617-0290BA5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React, Spring Boot,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2342E-587A-490F-93B9-4F1B119A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6750"/>
            <a:ext cx="3714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64686-A9B1-4E6F-940A-9F45E34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PROJECT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2C9CB-C070-45C8-919F-33F8D42A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85875"/>
            <a:ext cx="3000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Care preparation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DD75D-9F9C-4572-9103-74E4EC36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PMS gives structured awareness guidance and doctor-prep questions. It does not diagnose disease, prescribe medicine, or replace emergency care.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D8783-1A7E-4F44-A159-B0040F76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145DF-FB41-4846-8B6E-069036B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2892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Patient intake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90FC5-A80B-4B33-8AE2-41A69E4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765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35819-C274-4CDF-AC82-1C87447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1AEAC-DA1E-4288-9CFC-7DF0D6C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289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Risk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7E4F5-BA5E-4B1E-9A39-D3EA57E3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909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9D770-A5F9-41FA-8AA9-F86D330D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0522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Follow-ups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833428-CB45-41D6-B0D0-A42984D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528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C1E3-5E3D-483F-AD15-1526F33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909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43ECA-4576-4B69-B072-F6EB2C17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052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Care guide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5771A5-26F6-41BB-B79F-3D4AE5B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672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856B9-A2A9-4C12-80AF-021CF9BC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History drawer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E1D96-FFA2-44DF-BBB2-AF0D1DB4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291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12D0F-B6B3-4F52-99C0-709E8951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672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070D61-DB37-4671-86B9-3212C6F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815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Staff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99061-D7F6-4318-925F-FC90AD8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83ECAF-4CC0-480D-AF1D-485EF165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Tech stack: React + TypeScript frontend, Vite proxy, Spring Boot REST API, service layer, JPA repositories, PostgreSQL runtime, H2 tests.</a:t>
            </a:r>
          </a:p>
        </p:txBody>
      </p:sp>
    </p:spTree>
    <p:extLst>
      <p:ext uri="{BB962C8B-B14F-4D97-AF65-F5344CB8AC3E}">
        <p14:creationId xmlns:p14="http://schemas.microsoft.com/office/powerpoint/2010/main" val="10661959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D84B-A83C-47D4-A0AC-5DC964D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249F3-B877-4721-AE4F-7D551EDD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09903-09FB-4A42-BB7F-8294A792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PMS Health | Care preparation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EDDD-FD02-4A1A-BDBD-C31D162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52DBC-4A5A-4BBA-A41B-9AF6AF1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D1D20-629D-4EFF-8B6D-DBCE186C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Health details are easy to lose before 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25C26-1DBE-44DF-8027-4188B9F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Patients often remember symptoms late, describe them inconsistently, or arrive without organized history and questions for a clinician.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F304F-9FE6-4523-8058-BD1150E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861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721D5-787A-42B8-8C73-5849107F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0B1E3-26A9-4EAA-B7DE-9E3FE9E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08984-39E3-479B-A4A0-120A03AC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809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Fragmented symptom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25BAA-0265-4A03-9201-E33CF595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People may forget timing, severity, related symptoms, temperature availability, medicines, and past history when they finally meet a doctor.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13A73-E50F-413B-A64C-FF6300F6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2861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1AD02-625D-4CB1-81B9-9028F5DC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B8DFB-B0B4-43AF-A3FF-6754F514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D4EC4-07E8-40E4-A1A0-5517E6A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2809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Unsafe self-interpretation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0C596-B0F0-41C9-9CB9-38EC0AC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A simple Low / Medium / High label is not enough. Users need context, red-flag guidance, and safe language that avoids false diagnosis.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99987-FA28-4137-905A-275966A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2861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AB4F6-E708-4795-B97E-4B9F0C63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C530D-C351-40E3-94E7-96624AF0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7DD6E-3772-4580-9C07-6ABAAE9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2809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Weak doctor preparation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C0F49-FDC9-44AE-A4E5-1003E535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Doctors benefit when patients bring structured notes: what changed, what to monitor, what questions to ask, and what sources support the discussion.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2D40D-7A5F-43DC-A921-828FEA9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10591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B80D3-BC5D-44F3-848B-474E23B9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MEDICAL SAFETY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86ED6-BE04-4261-B1F3-C10CDD9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PMS is awareness and care preparation only. It does not diagnose, prescribe medicine, or replace professional medical care or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16266583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57CC4-ACB9-4B02-B108-005D1DB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93184-3E0B-4A89-AB8B-AFE787FE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C0C53-3ED4-4D7B-B086-E8A0E308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PMS Health | Care preparation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6998E-6685-4F1D-BBEF-CB149932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80A5A-1E8D-4DEB-8C0D-B275251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SOLUTION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EA7B-01BB-4F58-BDB4-89A123D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Two role-based workspaces support safer 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78529-4BA3-4BF6-9B00-C2DFF4D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The patient workflow creates structured care-preparation guides. The staff workflow reviews completed records and manages additive safety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52DA3-61F2-471C-B752-018D452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2197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77132-4EA9-4677-B1BB-3B67D06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PATIENT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317A4-7717-413E-A975-E9634008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Guided preparation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EE628-0E52-44FA-9CD1-5C96D11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B2A7A-A203-41B7-AA6D-B082BC0E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CB92D-88A8-4BCD-9B19-7FE68085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84091-DD72-4A37-9F2B-3CB2504D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Profile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BEB75-554D-461A-B241-3EB6A42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775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Basic details and reviewed health-history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8F8A8-4424-4F42-B329-BDB8D0CE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C9F2A-0AA7-4B06-9B65-E43B268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C3E8D-120A-47A8-A303-A6A18EE1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85CAF-3E96-44BF-B9CF-B9E1F22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Assessment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2DB7B-4704-45F2-9414-4DE9DD3D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33775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Symptoms, severity, duration, temperature option, and chronic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1837B-7990-4C34-8ADE-A3CB2185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22537-2C89-42D1-B517-7DEC596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78328-0E46-4CDF-A4A0-6F614499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039FC-BC82-4442-A260-F856178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Follow-ups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0E014-3859-4E07-A0A4-07DC8007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Four to seven required cards refine the final guide.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8C398-048A-4198-9435-0AE3307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1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E697F-4A6A-4E41-9251-5C992D6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4F432-6933-4471-8375-1DB0F333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101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50521-A79D-415E-9B18-D7FD97BB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339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Care guide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04830-6730-4D78-9800-6908DDD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48225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Summary, reasons, next steps, monitoring, and doctor questions.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71E0C-4840-483F-9F27-118B05C4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953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5E82CA-179C-4A1A-A7E2-51CBD50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STAFF WORKSPACE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1DF065-E2C6-4496-84C6-2D0A3DF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3810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Clinical operations 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29FF4-28FC-40AE-8F91-859993E8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Staff accounts use a separate login path and open the admin workspace only.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51ECD7-95F8-45DD-AFBD-056C21BE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8763C-423F-4AB5-BB92-F6D74D3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Completed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C26BD-A4ED-4BD8-81FE-42A35397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C498D-4593-4ED4-AE98-1B5B324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2792B6-93DE-4792-B69F-351F6610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A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C9A70-C217-4E4F-9F97-8FF240B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Operational rules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238CBA-DDBB-4C61-B350-3C23305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A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44083F-5CB6-4268-A267-F8C988F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Question bank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A5C1F2-1F87-4EE9-8ADA-140BEDD4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Staff-created rules and questions affect future assessments, but protected red-flag safeguards remain active and cannot be downgraded.</a:t>
            </a:r>
          </a:p>
        </p:txBody>
      </p:sp>
    </p:spTree>
    <p:extLst>
      <p:ext uri="{BB962C8B-B14F-4D97-AF65-F5344CB8AC3E}">
        <p14:creationId xmlns:p14="http://schemas.microsoft.com/office/powerpoint/2010/main" val="12371645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EE233-F3B9-4544-AF44-59ED5CBB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20515-3F70-4337-9B84-309C7720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8657E-F383-4991-9B25-5D078E9D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PMS Health | Care preparation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1A5A0-C813-4C0F-B794-A2D786F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90D9E-7FED-47E8-8110-71EFC43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33FA0-99E6-4F4A-9656-8818BE4C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Rules-first backend with mock AI insight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E1C3E-CDDA-488C-A225-81FAE02B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The frontend never calls an AI provider or stores provider keys. All safety logic and AI-style wording live behind the Spring Boot API.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8318-D822-4E61-9452-6AAB7316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46ABD-47CA-4454-8724-E93877C3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457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LAYER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DE7E4-7849-4FA0-856F-BE8E6B3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457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React +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4F02A-D745-4161-B366-91529B2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457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Landing, patient workspace, staff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F079B-3844-4CD9-8435-A0937120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432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F7FF5-8638-41B5-AE41-FB730AF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764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3C46A-CE53-4111-AA45-F888BCA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457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LAYER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DE2EF-FB09-4632-8FD7-15F34DA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95550"/>
            <a:ext cx="1457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Vite API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EAC22-ACF8-46DA-993C-8212589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14650"/>
            <a:ext cx="1457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Local frontend bridge to backend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22988-CAA3-4F74-A64F-BBEAB764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0FD8A-63E4-4525-9879-CC0D8DB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764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D3ED0-7898-44C7-B4E2-6624FDC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1457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LAYER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1324F-BD7E-4FED-B694-DCA3E54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1457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Spring Boot 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F6888-44D8-49AD-BF79-5293D7DB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457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Auth, assessment, reports, admin endpoints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96A49-10BF-4E46-AE0A-57AFA48E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432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AFAD8-0B05-4D7C-B5B8-DDF105B0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764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A5424-AC15-4094-A69C-1B0D59C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47900"/>
            <a:ext cx="1457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LAYER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1E7DC-C3E5-4D8F-B346-4336E186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95550"/>
            <a:ext cx="1457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Service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7FD5B-0E8A-4465-836B-9BF9A4F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1457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Auth Service, Assessment Service, Rule-Based Risk Engine, Mock AI Insight 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56D84-7821-4AB2-9B7B-CC013B2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ADD71-A7A2-418E-B624-C72F502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FCBFC-F03C-455C-B3EB-2BEF8E1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1457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LAYER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7C644-9DD6-43DC-B1CE-C32A0464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1457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PostgreSQL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81A92-A03A-4524-94CC-F86B5062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457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Runtime persistence through JPA repositories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A3E96-AE17-4174-AFA2-55F2486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EF66D8-3B1A-4D43-B2A5-DADE3D69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BACKEND MODULES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0A5FE-2DF0-4478-8D0F-4533E94F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029218-12D0-4224-9D91-1DDD33B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Auth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FA2AD-ABFD-498C-A249-5D0D409B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43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785D0-5672-4F35-8641-22310AC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Assessment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A499B-13D4-4C04-BB12-C62260B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11FFA-03E6-4BEA-B9B4-67E2C444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577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JPA Repos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6F0EA-AAB1-4AEE-B89B-F08A4139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4953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12132F-5787-4864-9B7C-5692148C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00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SAFETY AND INSIGHT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592D8C-391F-4052-BB70-83D1789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43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EA"/>
          </a:solidFill>
          <a:ln xmlns:a="http://schemas.openxmlformats.org/drawingml/2006/main" w="9525">
            <a:solidFill>
              <a:srgbClr val="D94B5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092D21-592E-4995-829C-EC4D448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57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Protected red flags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DFB16-6054-488B-9F19-2873FDA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4C1D71-5D36-4F72-B350-46C5C5F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57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Risk rules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36B39C-4F29-45CC-95EA-F16DD279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8942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9FA7F1-A388-40CD-B4D8-968A317D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2D"/>
                </a:solidFill>
                <a:latin typeface="Aptos"/>
                <a:ea typeface="Aptos"/>
                <a:cs typeface="Aptos"/>
              </a:rPr>
              <a:t>Mock AI wording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7D3886-BE73-4D2D-A33C-03FD363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5A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5A75"/>
                </a:solidFill>
                <a:latin typeface="Aptos"/>
                <a:ea typeface="Aptos"/>
                <a:cs typeface="Aptos"/>
              </a:rPr>
              <a:t>Staff controls feed future drafts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E95071-9E69-44F6-8F03-9D5E54C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147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E04854-6216-41FB-A570-7311237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Rules + questions</a:t>
            </a:r>
          </a:p>
        </p:txBody>
      </p:sp>
    </p:spTree>
    <p:extLst>
      <p:ext uri="{BB962C8B-B14F-4D97-AF65-F5344CB8AC3E}">
        <p14:creationId xmlns:p14="http://schemas.microsoft.com/office/powerpoint/2010/main" val="3924440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0FF29-64F7-4FA7-BCFB-8B199791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D427C-44E0-4450-BFD1-67C31E69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0156-DCEA-45D8-9CB9-1228980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PMS Health | Care preparation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DC728-D1C5-4FB0-8757-865D6F3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8919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1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16EDE-5A90-4EB3-AF53-9C6E650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DEMO FLOW AND FUTURE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1AC77-C424-48DB-8AE5-9F477643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Demo flow and 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6284B-4DE9-4DB8-AAE4-74612C9C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B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B6E"/>
                </a:solidFill>
                <a:latin typeface="Aptos"/>
                <a:ea typeface="Aptos"/>
                <a:cs typeface="Aptos"/>
              </a:rPr>
              <a:t>The demonstration shows the current MVP clearly while keeping future production improvements separate.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8127B-A3E1-45A9-945F-54841B3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5A4DD-7C1F-4FB3-ACC1-069F10D7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DEMO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49215-E116-43B3-95E4-D14D504B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D1AC1-00D9-4E81-ADA3-C1F76E79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D97E8-F46C-4554-BEBE-67B14AB8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955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Landing page: care-preparation boundary and product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C8549-5205-43EA-B825-B0A760A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3A8EC-0CBF-4CD7-B45D-3E608A0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882F-B89D-4325-A4E4-D3204DAF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Signup or login: adult patient account and stored consent acknowledgments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7D152-27DA-457C-B22D-72A8A8F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13AC4-FD7D-4247-B2CB-D873C0F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0F8F7-3BA1-42B7-99E4-F01ED33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5282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Profile setup: question-specific health-history cards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76B95-7DD8-4114-BC76-D7AB97D3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825A-560B-4E61-957B-C9865DD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6CBA2-5DC4-4B3D-B9EC-9E0F7A2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Assessment: symptoms, severity, duration, temperature, chronic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65764-7782-45D7-829B-BF47548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B77CF-0B27-48FC-9F8E-AFB9DDB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2FD22-2B08-4F97-8A74-A356791E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00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Follow-ups: required Yes / No / Not sure cards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6CA09-6B14-417A-9A4F-2CA4F717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8DEA0-CC05-443A-896C-1C83C798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5A1AF-76D6-4AC4-90A6-4C4B61A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Care guide: summary, explanation, next steps, doctor questions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22308-174A-46B0-9DFD-5C889D1C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E3F060-4B86-4B90-A00E-9AA4CD10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80532-9A9D-4653-B763-6D0042E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6732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History drawer and staff review: completed record details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3275F-3DCC-4361-8F9A-D651AB6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38350"/>
            <a:ext cx="40386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0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B0B3D-5E65-4277-A8AA-EDEDD97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27E44F-CEA0-449C-AFC0-9BD6622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A2D"/>
                </a:solidFill>
                <a:latin typeface="Aptos Display"/>
                <a:ea typeface="Aptos Display"/>
                <a:cs typeface="Aptos Display"/>
              </a:rPr>
              <a:t>What comes next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5B1ED-9ACE-4D9C-AA36-1C2E703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B71D77-37BD-4111-910A-D4A4AC7F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Provider-backed AI adapter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1F9D69-7E93-47F0-BDDB-0BB8C6E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35844-84A8-4715-9124-9B3008C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957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Stronger authentication and security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6E0533-08B5-42B0-AD6D-374F2D4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148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C85C6A-0516-40D2-8F70-EBBAC266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PDF report extraction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A1F2C8-FE9F-4E8F-B499-B0DEC5F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101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21420F-CD48-4BEE-A657-4321AFC2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863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Doctor dashboard and appointment flow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8870C6-B225-46DE-8662-07F29A8D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054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0D978C-DAC1-4A3B-82A4-328E8FE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6F6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6F67"/>
                </a:solidFill>
                <a:latin typeface="Aptos"/>
                <a:ea typeface="Aptos"/>
                <a:cs typeface="Aptos"/>
              </a:rPr>
              <a:t>Cloud deployment and privacy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CF6BE-431E-4D47-939A-29AB4381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59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B4231D-692F-4F8C-899A-BB062972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2D"/>
                </a:solidFill>
                <a:latin typeface="Aptos"/>
                <a:ea typeface="Aptos"/>
                <a:cs typeface="Aptos"/>
              </a:rPr>
              <a:t>Current AI answer for demo: PMS uses mock AI only. No external AI API is called in this branch; real AI would be added later behind the backend.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D7BA65-F121-4388-9E15-72DCEDC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444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2026-06-03T02:05:29.6970000Z</dcterms:created>
  <dcterms:modified xsi:type="dcterms:W3CDTF">2026-06-03T02:05:29.6970000Z</dcterms:modified>
</coreProperties>
</file>